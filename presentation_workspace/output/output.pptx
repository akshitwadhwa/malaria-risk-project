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31dae629d94e3e" /><Relationship Type="http://schemas.openxmlformats.org/officeDocument/2006/relationships/extended-properties" Target="/docProps/app.xml" Id="Rc4d271d60fd84db4" /><Relationship Type="http://schemas.openxmlformats.org/officeDocument/2006/relationships/officeDocument" Target="/ppt/presentation.xml" Id="Rb46751d75f9c44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6b32a267124a17"/>
  </p:sldMasterIdLst>
  <p:notesMasterIdLst>
    <p:notesMasterId xmlns:r="http://schemas.openxmlformats.org/officeDocument/2006/relationships" r:id="R5fb8f6f08a13462e"/>
  </p:notesMasterIdLst>
  <p:sldIdLst>
    <p:sldId xmlns:r="http://schemas.openxmlformats.org/officeDocument/2006/relationships" id="256" r:id="Ra1e6cc5acfca4e27"/>
    <p:sldId xmlns:r="http://schemas.openxmlformats.org/officeDocument/2006/relationships" id="257" r:id="Rad49eaebfb16417e"/>
    <p:sldId xmlns:r="http://schemas.openxmlformats.org/officeDocument/2006/relationships" id="258" r:id="R147b68e5f1394a93"/>
    <p:sldId xmlns:r="http://schemas.openxmlformats.org/officeDocument/2006/relationships" id="259" r:id="R026fe651f83241e6"/>
    <p:sldId xmlns:r="http://schemas.openxmlformats.org/officeDocument/2006/relationships" id="260" r:id="R4d41e8833b054344"/>
    <p:sldId xmlns:r="http://schemas.openxmlformats.org/officeDocument/2006/relationships" id="261" r:id="R6119b945336c4f68"/>
    <p:sldId xmlns:r="http://schemas.openxmlformats.org/officeDocument/2006/relationships" id="262" r:id="Ra2df5b0ec58845d5"/>
    <p:sldId xmlns:r="http://schemas.openxmlformats.org/officeDocument/2006/relationships" id="263" r:id="R28ba611416874a7a"/>
    <p:sldId xmlns:r="http://schemas.openxmlformats.org/officeDocument/2006/relationships" id="264" r:id="R263eb228dab049d1"/>
    <p:sldId xmlns:r="http://schemas.openxmlformats.org/officeDocument/2006/relationships" id="265" r:id="R0fcccab373244421"/>
    <p:sldId xmlns:r="http://schemas.openxmlformats.org/officeDocument/2006/relationships" id="266" r:id="R523fa0af5534456e"/>
    <p:sldId xmlns:r="http://schemas.openxmlformats.org/officeDocument/2006/relationships" id="267" r:id="Rac9fa98c309f468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b32a267124a17" /><Relationship Type="http://schemas.openxmlformats.org/officeDocument/2006/relationships/theme" Target="/ppt/theme/theme1.xml" Id="R84bf899a00004c8b" /><Relationship Type="http://schemas.openxmlformats.org/officeDocument/2006/relationships/notesMaster" Target="/ppt/notesMasters/notesMaster1.xml" Id="R5fb8f6f08a13462e" /><Relationship Type="http://schemas.openxmlformats.org/officeDocument/2006/relationships/presProps" Target="/ppt/presProps.xml" Id="R50c28c79d17642f7" /><Relationship Type="http://schemas.openxmlformats.org/officeDocument/2006/relationships/viewProps" Target="/ppt/viewProps.xml" Id="Rca28b06738e4483f" /><Relationship Type="http://schemas.openxmlformats.org/officeDocument/2006/relationships/tableStyles" Target="/ppt/tableStyles.xml" Id="R894e8d5a4e804732" /><Relationship Type="http://schemas.openxmlformats.org/officeDocument/2006/relationships/slide" Target="/ppt/slides/slide1.xml" Id="Ra1e6cc5acfca4e27" /><Relationship Type="http://schemas.openxmlformats.org/officeDocument/2006/relationships/slide" Target="/ppt/slides/slide2.xml" Id="Rad49eaebfb16417e" /><Relationship Type="http://schemas.openxmlformats.org/officeDocument/2006/relationships/slide" Target="/ppt/slides/slide3.xml" Id="R147b68e5f1394a93" /><Relationship Type="http://schemas.openxmlformats.org/officeDocument/2006/relationships/slide" Target="/ppt/slides/slide4.xml" Id="R026fe651f83241e6" /><Relationship Type="http://schemas.openxmlformats.org/officeDocument/2006/relationships/slide" Target="/ppt/slides/slide5.xml" Id="R4d41e8833b054344" /><Relationship Type="http://schemas.openxmlformats.org/officeDocument/2006/relationships/slide" Target="/ppt/slides/slide6.xml" Id="R6119b945336c4f68" /><Relationship Type="http://schemas.openxmlformats.org/officeDocument/2006/relationships/slide" Target="/ppt/slides/slide7.xml" Id="Ra2df5b0ec58845d5" /><Relationship Type="http://schemas.openxmlformats.org/officeDocument/2006/relationships/slide" Target="/ppt/slides/slide8.xml" Id="R28ba611416874a7a" /><Relationship Type="http://schemas.openxmlformats.org/officeDocument/2006/relationships/slide" Target="/ppt/slides/slide9.xml" Id="R263eb228dab049d1" /><Relationship Type="http://schemas.openxmlformats.org/officeDocument/2006/relationships/slide" Target="/ppt/slides/slide10.xml" Id="R0fcccab373244421" /><Relationship Type="http://schemas.openxmlformats.org/officeDocument/2006/relationships/slide" Target="/ppt/slides/slide11.xml" Id="R523fa0af5534456e" /><Relationship Type="http://schemas.openxmlformats.org/officeDocument/2006/relationships/slide" Target="/ppt/slides/slide12.xml" Id="Rac9fa98c309f46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08458d5ebab40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793f9cbc6c4669" /><Relationship Type="http://schemas.openxmlformats.org/officeDocument/2006/relationships/notesMaster" Target="/ppt/notesMasters/notesMaster1.xml" Id="Rba3124ffc13543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18e3a4a1d436c" /><Relationship Type="http://schemas.openxmlformats.org/officeDocument/2006/relationships/notesMaster" Target="/ppt/notesMasters/notesMaster1.xml" Id="R882d0fdc77c447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d8a03579084cb2" /><Relationship Type="http://schemas.openxmlformats.org/officeDocument/2006/relationships/notesMaster" Target="/ppt/notesMasters/notesMaster1.xml" Id="R7bea51ed9d2545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29a19013734466" /><Relationship Type="http://schemas.openxmlformats.org/officeDocument/2006/relationships/notesMaster" Target="/ppt/notesMasters/notesMaster1.xml" Id="R8a36de9d9af947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c0ade28b56404e" /><Relationship Type="http://schemas.openxmlformats.org/officeDocument/2006/relationships/notesMaster" Target="/ppt/notesMasters/notesMaster1.xml" Id="Rdaf56fd2d4264d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8a9e5dd91849ac" /><Relationship Type="http://schemas.openxmlformats.org/officeDocument/2006/relationships/notesMaster" Target="/ppt/notesMasters/notesMaster1.xml" Id="R6a5f013a35064d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30f623a32944ef" /><Relationship Type="http://schemas.openxmlformats.org/officeDocument/2006/relationships/notesMaster" Target="/ppt/notesMasters/notesMaster1.xml" Id="R55d907c0417c46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36d9c763244931" /><Relationship Type="http://schemas.openxmlformats.org/officeDocument/2006/relationships/notesMaster" Target="/ppt/notesMasters/notesMaster1.xml" Id="Rbb28825eb9804e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ddb9ad6d8043e8" /><Relationship Type="http://schemas.openxmlformats.org/officeDocument/2006/relationships/notesMaster" Target="/ppt/notesMasters/notesMaster1.xml" Id="R8f22c7f00e4a4e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a7fa6df4184e59" /><Relationship Type="http://schemas.openxmlformats.org/officeDocument/2006/relationships/notesMaster" Target="/ppt/notesMasters/notesMaster1.xml" Id="R0bbb49368e584d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3992a2ccda4f1b" /><Relationship Type="http://schemas.openxmlformats.org/officeDocument/2006/relationships/notesMaster" Target="/ppt/notesMasters/notesMaster1.xml" Id="R3d3369ff20314a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aa90a7e9a54ee7" /><Relationship Type="http://schemas.openxmlformats.org/officeDocument/2006/relationships/notesMaster" Target="/ppt/notesMasters/notesMaster1.xml" Id="R2859458759d24b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the project as a modelling workflow, not just a data-cleaning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Emphasize the central question: converting historical malaria data into risk signals.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Walk left to right: data, cleaning, geospatial analysis, modelling, prediction,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analysis-ready data is what makes modelling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slide to justify region selection and why raw counts are not enough.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Say that spatial context comes before modelling because model behavior differs by region.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out that recent 2025 cases declined, but burden is still concentrated.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R0 simply: above 1 means transmission can persist without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Use Mizoram as the example where trend forecasting can miss resurgence.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ML predicts high-risk status, not biological causes.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Define peak timing as the model maximum and duration as sustained burden/risk.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saying the strongest conclusion comes from combining all model types.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99ea5281f42c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2dc40cf1304bcd" /><Relationship Type="http://schemas.openxmlformats.org/officeDocument/2006/relationships/slideLayout" Target="/ppt/slideLayouts/slideLayout2.xml" Id="R52fa152c5e244e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fa152c5e244e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4199502ba484d" /><Relationship Type="http://schemas.openxmlformats.org/officeDocument/2006/relationships/notesSlide" Target="/ppt/notesSlides/notesSlide1.xml" Id="Ra331aff174c042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b56fe9ec7f4f89" /><Relationship Type="http://schemas.openxmlformats.org/officeDocument/2006/relationships/notesSlide" Target="/ppt/notesSlides/notesSlide2.xml" Id="Rb67bf73ba0e44a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49107e8ebe4bb6" /><Relationship Type="http://schemas.openxmlformats.org/officeDocument/2006/relationships/notesSlide" Target="/ppt/notesSlides/notesSlide3.xml" Id="R38aff1a8bcaf45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64a09ec6554a1b" /><Relationship Type="http://schemas.openxmlformats.org/officeDocument/2006/relationships/notesSlide" Target="/ppt/notesSlides/notesSlide4.xml" Id="Rbc6a7ad994c144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16ed65f9cd48a8" /><Relationship Type="http://schemas.openxmlformats.org/officeDocument/2006/relationships/chart" Target="/ppt/slides/charts/chart1.xml" Id="Rc962ddfbb8c945bc" /><Relationship Type="http://schemas.openxmlformats.org/officeDocument/2006/relationships/notesSlide" Target="/ppt/notesSlides/notesSlide5.xml" Id="R7dc9a2e6dc8a44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f863bbd3fa4897" /><Relationship Type="http://schemas.openxmlformats.org/officeDocument/2006/relationships/notesSlide" Target="/ppt/notesSlides/notesSlide6.xml" Id="R2739f188e2ce43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a3436f41b7461c" /><Relationship Type="http://schemas.openxmlformats.org/officeDocument/2006/relationships/chart" Target="/ppt/slides/charts/chart2.xml" Id="R085991976e044837" /><Relationship Type="http://schemas.openxmlformats.org/officeDocument/2006/relationships/notesSlide" Target="/ppt/notesSlides/notesSlide7.xml" Id="Rf0f4c184f34e4f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a398b8804341e2" /><Relationship Type="http://schemas.openxmlformats.org/officeDocument/2006/relationships/chart" Target="/ppt/slides/charts/chart3.xml" Id="Re47d48e8cd8f4e4e" /><Relationship Type="http://schemas.openxmlformats.org/officeDocument/2006/relationships/notesSlide" Target="/ppt/notesSlides/notesSlide8.xml" Id="Ra5c1a792f8fa48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fd684e99b44c4f" /><Relationship Type="http://schemas.openxmlformats.org/officeDocument/2006/relationships/chart" Target="/ppt/slides/charts/chart4.xml" Id="R8643e2b1887d4754" /><Relationship Type="http://schemas.openxmlformats.org/officeDocument/2006/relationships/notesSlide" Target="/ppt/notesSlides/notesSlide9.xml" Id="R32ac7e617c904d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a460f5bf146ea" /><Relationship Type="http://schemas.openxmlformats.org/officeDocument/2006/relationships/chart" Target="/ppt/slides/charts/chart5.xml" Id="Rd2a7d77c4e614331" /><Relationship Type="http://schemas.openxmlformats.org/officeDocument/2006/relationships/notesSlide" Target="/ppt/notesSlides/notesSlide10.xml" Id="Rf624011979814e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7a3bc4fa1d4ab9" /><Relationship Type="http://schemas.openxmlformats.org/officeDocument/2006/relationships/notesSlide" Target="/ppt/notesSlides/notesSlide11.xml" Id="Rc3f24f03ea684e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eb214b3e2b4756" /><Relationship Type="http://schemas.openxmlformats.org/officeDocument/2006/relationships/notesSlide" Target="/ppt/notesSlides/notesSlide12.xml" Id="R7f1b350721f342a4" /></Relationships>
</file>

<file path=ppt/slides/charts/chart1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7FAF8"/>
      </a:solidFill>
    </c:spPr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Cumulative burden contrast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Cases (millions)</c:v>
          </c:tx>
          <c:cat>
            <c:strLit>
              <c:ptCount val="3"/>
              <c:pt idx="0">
                <c:v>Odisha</c:v>
              </c:pt>
              <c:pt idx="1">
                <c:v>Tripura</c:v>
              </c:pt>
              <c:pt idx="2">
                <c:v>Mizoram</c:v>
              </c:pt>
            </c:strLit>
          </c:cat>
          <c:val>
            <c:numLit>
              <c:formatCode/>
              <c:ptCount val="3"/>
              <c:pt idx="0">
                <c:v>7.24</c:v>
              </c:pt>
              <c:pt idx="1">
                <c:v>0.38</c:v>
              </c:pt>
              <c:pt idx="2">
                <c:v>0.26</c:v>
              </c:pt>
            </c:numLit>
          </c:val>
        </c:ser>
        <c:ser>
          <c:idx val="1"/>
          <c:order val="1"/>
          <c:tx>
            <c:v>Rate per 100k / 10k</c:v>
          </c:tx>
          <c:cat>
            <c:strLit>
              <c:ptCount val="3"/>
              <c:pt idx="0">
                <c:v>Odisha</c:v>
              </c:pt>
              <c:pt idx="1">
                <c:v>Tripura</c:v>
              </c:pt>
              <c:pt idx="2">
                <c:v>Mizoram</c:v>
              </c:pt>
            </c:strLit>
          </c:cat>
          <c:val>
            <c:numLit>
              <c:formatCode/>
              <c:ptCount val="3"/>
              <c:pt idx="0">
                <c:v>1.73</c:v>
              </c:pt>
              <c:pt idx="1">
                <c:v>1.03</c:v>
              </c:pt>
              <c:pt idx="2">
                <c:v>2.37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7FA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/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7FAF8"/>
      </a:solidFill>
    </c:spPr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Positive malaria cases, 2024 vs 2025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2024</c:v>
          </c:tx>
          <c:cat>
            <c:strLit>
              <c:ptCount val="8"/>
              <c:pt idx="0">
                <c:v>Odisha</c:v>
              </c:pt>
              <c:pt idx="1">
                <c:v>Jharkhand</c:v>
              </c:pt>
              <c:pt idx="2">
                <c:v>Chhattisgarh</c:v>
              </c:pt>
              <c:pt idx="3">
                <c:v>Maharashtra</c:v>
              </c:pt>
              <c:pt idx="4">
                <c:v>West Bengal</c:v>
              </c:pt>
              <c:pt idx="5">
                <c:v>Mizoram</c:v>
              </c:pt>
              <c:pt idx="6">
                <c:v>Uttar Pradesh</c:v>
              </c:pt>
              <c:pt idx="7">
                <c:v>Tripura</c:v>
              </c:pt>
            </c:strLit>
          </c:cat>
          <c:val>
            <c:numLit>
              <c:formatCode/>
              <c:ptCount val="8"/>
              <c:pt idx="0">
                <c:v>68693</c:v>
              </c:pt>
              <c:pt idx="1">
                <c:v>42352</c:v>
              </c:pt>
              <c:pt idx="2">
                <c:v>31373</c:v>
              </c:pt>
              <c:pt idx="3">
                <c:v>21078</c:v>
              </c:pt>
              <c:pt idx="4">
                <c:v>21802</c:v>
              </c:pt>
              <c:pt idx="5">
                <c:v>16899</c:v>
              </c:pt>
              <c:pt idx="6">
                <c:v>13477</c:v>
              </c:pt>
              <c:pt idx="7">
                <c:v>9738</c:v>
              </c:pt>
            </c:numLit>
          </c:val>
        </c:ser>
        <c:ser>
          <c:idx val="1"/>
          <c:order val="1"/>
          <c:tx>
            <c:v>2025</c:v>
          </c:tx>
          <c:cat>
            <c:strLit>
              <c:ptCount val="8"/>
              <c:pt idx="0">
                <c:v>Odisha</c:v>
              </c:pt>
              <c:pt idx="1">
                <c:v>Jharkhand</c:v>
              </c:pt>
              <c:pt idx="2">
                <c:v>Chhattisgarh</c:v>
              </c:pt>
              <c:pt idx="3">
                <c:v>Maharashtra</c:v>
              </c:pt>
              <c:pt idx="4">
                <c:v>West Bengal</c:v>
              </c:pt>
              <c:pt idx="5">
                <c:v>Mizoram</c:v>
              </c:pt>
              <c:pt idx="6">
                <c:v>Uttar Pradesh</c:v>
              </c:pt>
              <c:pt idx="7">
                <c:v>Tripura</c:v>
              </c:pt>
            </c:strLit>
          </c:cat>
          <c:val>
            <c:numLit>
              <c:formatCode/>
              <c:ptCount val="8"/>
              <c:pt idx="0">
                <c:v>62137</c:v>
              </c:pt>
              <c:pt idx="1">
                <c:v>42301</c:v>
              </c:pt>
              <c:pt idx="2">
                <c:v>28836</c:v>
              </c:pt>
              <c:pt idx="3">
                <c:v>23097</c:v>
              </c:pt>
              <c:pt idx="4">
                <c:v>21080</c:v>
              </c:pt>
              <c:pt idx="5">
                <c:v>8865</c:v>
              </c:pt>
              <c:pt idx="6">
                <c:v>14590</c:v>
              </c:pt>
              <c:pt idx="7">
                <c:v>6091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Positive cases</a:t>
                </a:r>
              </a:p>
            </c:rich>
          </c:tx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7FA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/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7FAF8"/>
      </a:solidFill>
    </c:spPr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SIR R0 proxy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R0 proxy</c:v>
          </c:tx>
          <c:cat>
            <c:strLit>
              <c:ptCount val="3"/>
              <c:pt idx="0">
                <c:v>Odisha</c:v>
              </c:pt>
              <c:pt idx="1">
                <c:v>Mizoram</c:v>
              </c:pt>
              <c:pt idx="2">
                <c:v>Tripura</c:v>
              </c:pt>
            </c:strLit>
          </c:cat>
          <c:val>
            <c:numLit>
              <c:formatCode/>
              <c:ptCount val="3"/>
              <c:pt idx="0">
                <c:v>1.063</c:v>
              </c:pt>
              <c:pt idx="1">
                <c:v>1.146</c:v>
              </c:pt>
              <c:pt idx="2">
                <c:v>1.027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R0 proxy</a:t>
                </a:r>
              </a:p>
            </c:rich>
          </c:tx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7FAF8"/>
        </a:solidFill>
      </c:spPr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7FAF8"/>
      </a:solidFill>
    </c:spPr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Mizoram holdout: actual vs ARIMA/SARIMA forecast</a:t>
            </a:r>
          </a:p>
        </c:rich>
      </c:tx>
      <c:overlay val="0"/>
    </c:title>
    <c:autoTitleDeleted val="0"/>
    <c:plotArea>
      <c:layout/>
      <c:lineChart>
        <c:ser>
          <c:idx val="0"/>
          <c:order val="0"/>
          <c:tx>
            <c:v>Actual</c:v>
          </c:tx>
          <c:cat>
            <c:numLit>
              <c:formatCode/>
              <c:ptCount val="4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</c:numLit>
          </c:cat>
          <c:val>
            <c:numLit>
              <c:formatCode/>
              <c:ptCount val="4"/>
              <c:pt idx="0">
                <c:v>7457</c:v>
              </c:pt>
              <c:pt idx="1">
                <c:v>11100</c:v>
              </c:pt>
              <c:pt idx="2">
                <c:v>18000</c:v>
              </c:pt>
              <c:pt idx="3">
                <c:v>4308</c:v>
              </c:pt>
            </c:numLit>
          </c:val>
          <c:smooth val="0"/>
        </c:ser>
        <c:ser>
          <c:idx val="1"/>
          <c:order val="1"/>
          <c:tx>
            <c:v>ARIMA</c:v>
          </c:tx>
          <c:cat>
            <c:numLit>
              <c:formatCode/>
              <c:ptCount val="4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</c:numLit>
          </c:cat>
          <c:val>
            <c:numLit>
              <c:formatCode/>
              <c:ptCount val="4"/>
              <c:pt idx="0">
                <c:v>8593</c:v>
              </c:pt>
              <c:pt idx="1">
                <c:v>9021</c:v>
              </c:pt>
              <c:pt idx="2">
                <c:v>9237</c:v>
              </c:pt>
              <c:pt idx="3">
                <c:v>9347</c:v>
              </c:pt>
            </c:numLit>
          </c:val>
          <c:smooth val="0"/>
        </c:ser>
        <c:ser>
          <c:idx val="2"/>
          <c:order val="2"/>
          <c:tx>
            <c:v>SARIMA</c:v>
          </c:tx>
          <c:cat>
            <c:numLit>
              <c:formatCode/>
              <c:ptCount val="4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</c:numLit>
          </c:cat>
          <c:val>
            <c:numLit>
              <c:formatCode/>
              <c:ptCount val="4"/>
              <c:pt idx="0">
                <c:v>1528</c:v>
              </c:pt>
              <c:pt idx="1">
                <c:v>1529</c:v>
              </c:pt>
              <c:pt idx="2">
                <c:v>974</c:v>
              </c:pt>
              <c:pt idx="3">
                <c:v>1348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Annual cases</a:t>
                </a:r>
              </a:p>
            </c:rich>
          </c:tx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7FA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/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7FAF8"/>
      </a:solidFill>
    </c:spPr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Top model features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Importance</c:v>
          </c:tx>
          <c:cat>
            <c:strLit>
              <c:ptCount val="8"/>
              <c:pt idx="0">
                <c:v>cases per 100k lag1</c:v>
              </c:pt>
              <c:pt idx="1">
                <c:v>cases rate roll3</c:v>
              </c:pt>
              <c:pt idx="2">
                <c:v>cases per 100k lag3</c:v>
              </c:pt>
              <c:pt idx="3">
                <c:v>cases per 100k lag2</c:v>
              </c:pt>
              <c:pt idx="4">
                <c:v>deaths per 100k lag1</c:v>
              </c:pt>
              <c:pt idx="5">
                <c:v>population 2011</c:v>
              </c:pt>
              <c:pt idx="6">
                <c:v>cases yoy change</c:v>
              </c:pt>
              <c:pt idx="7">
                <c:v>rate yoy change</c:v>
              </c:pt>
            </c:strLit>
          </c:cat>
          <c:val>
            <c:numLit>
              <c:formatCode/>
              <c:ptCount val="8"/>
              <c:pt idx="0">
                <c:v>0.2136</c:v>
              </c:pt>
              <c:pt idx="1">
                <c:v>0.2</c:v>
              </c:pt>
              <c:pt idx="2">
                <c:v>0.1783</c:v>
              </c:pt>
              <c:pt idx="3">
                <c:v>0.1377</c:v>
              </c:pt>
              <c:pt idx="4">
                <c:v>0.0624</c:v>
              </c:pt>
              <c:pt idx="5">
                <c:v>0.0398</c:v>
              </c:pt>
              <c:pt idx="6">
                <c:v>0.0276</c:v>
              </c:pt>
              <c:pt idx="7">
                <c:v>0.0267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Importance</a:t>
                </a:r>
              </a:p>
            </c:rich>
          </c:tx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7FAF8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4E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89B261-CDC5-4837-B551-04B94C9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-1333500" y="6667500"/>
            <a:ext cx="20955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39"/>
          </a:solidFill>
          <a:ln xmlns:a="http://schemas.openxmlformats.org/drawingml/2006/main" w="0">
            <a:solidFill>
              <a:srgbClr val="0B3F3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5A4C5-A708-425C-86F1-24C5255E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762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B61"/>
          </a:solidFill>
          <a:ln xmlns:a="http://schemas.openxmlformats.org/drawingml/2006/main" w="0">
            <a:solidFill>
              <a:srgbClr val="166B6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EAF10-7C1C-4E40-82DD-15349A9E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5875" y="1619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9C137-C7B7-445B-BA18-95AFCD04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524000"/>
            <a:ext cx="990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Malaria Risk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Modelling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24251-012F-4C36-AB67-0F8055A4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40957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BE9E3"/>
                </a:solidFill>
              </a:defRPr>
            </a:pPr>
            <a:r>
              <a:rPr sz="2250" b="0">
                <a:solidFill>
                  <a:srgbClr val="CBE9E3"/>
                </a:solidFill>
              </a:rPr>
              <a:t>Geospatial analysis + SIR/SEIR-style reasoning + AI/ML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3DA2E-1EB8-4B55-93A4-921FC69D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49530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C24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DF6F3-ECC7-4A21-8949-FA6D48B1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5000625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C241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India • State + district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1C53B-1B23-4741-ADEB-9D309BF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9530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8734"/>
          </a:solidFill>
          <a:ln xmlns:a="http://schemas.openxmlformats.org/drawingml/2006/main" w="0">
            <a:solidFill>
              <a:srgbClr val="E88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B6FF9-1C6B-4F54-9489-9B70144E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5000625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34"/>
          </a:solidFill>
          <a:ln xmlns:a="http://schemas.openxmlformats.org/drawingml/2006/main" w="0">
            <a:solidFill>
              <a:srgbClr val="E8873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2000-2025 malaria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0958C-F64B-489E-B1A3-744F79FC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85725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39"/>
          </a:solidFill>
          <a:ln xmlns:a="http://schemas.openxmlformats.org/drawingml/2006/main" w="0">
            <a:solidFill>
              <a:srgbClr val="0B3F3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DEFEA"/>
                </a:solidFill>
              </a:defRPr>
            </a:pPr>
            <a:r>
              <a:rPr sz="2250" b="1">
                <a:solidFill>
                  <a:srgbClr val="DDEFEA"/>
                </a:solidFill>
              </a:rPr>
              <a:t>Odisha • Mizoram • Tripura</a:t>
            </a:r>
          </a:p>
        </p:txBody>
      </p:sp>
    </p:spTree>
    <p:extLst>
      <p:ext uri="{BB962C8B-B14F-4D97-AF65-F5344CB8AC3E}">
        <p14:creationId xmlns:p14="http://schemas.microsoft.com/office/powerpoint/2010/main" val="802757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950557-DA39-4E66-88FB-1AD751B8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What the project answers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5CEC6F-47D5-45C7-9003-5F975357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A regional malaria modelling workflow built from PDF-extracted surveillance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6A6AC-D91C-4789-AFB0-CB4709DA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2892F-B292-468E-AF25-43E48E8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95275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Can we move from historical case tables to policy-useful risk signals?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B6AEE-DE0A-49DF-9936-B1EAA807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5257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B3921-168A-4DC1-AD75-F6F801AC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514350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31F"/>
                </a:solidFill>
              </a:defRPr>
            </a:pPr>
            <a:r>
              <a:rPr sz="2100" b="0">
                <a:solidFill>
                  <a:srgbClr val="10231F"/>
                </a:solidFill>
              </a:rPr>
              <a:t>Map where malaria burden is concentrated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D3914-CAB4-4451-A8E0-68AD167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5867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D9A3F-86A5-4307-B42A-3DCBBA7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575310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31F"/>
                </a:solidFill>
              </a:defRPr>
            </a:pPr>
            <a:r>
              <a:rPr sz="2100" b="0">
                <a:solidFill>
                  <a:srgbClr val="10231F"/>
                </a:solidFill>
              </a:rPr>
              <a:t>Compare raw counts with population-adjusted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54DAA-7056-4DA5-98A8-D821C605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6477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15634-0E52-4209-9B78-C173A419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636270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31F"/>
                </a:solidFill>
              </a:defRPr>
            </a:pPr>
            <a:r>
              <a:rPr sz="2100" b="0">
                <a:solidFill>
                  <a:srgbClr val="10231F"/>
                </a:solidFill>
              </a:rPr>
              <a:t>Fit mechanistic and statistical models to the same regions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4216B-8E31-460C-B223-E0A0C257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7086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11B54-D028-4349-8399-FB81EAA4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697230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31F"/>
                </a:solidFill>
              </a:defRPr>
            </a:pPr>
            <a:r>
              <a:rPr sz="2100" b="0">
                <a:solidFill>
                  <a:srgbClr val="10231F"/>
                </a:solidFill>
              </a:rPr>
              <a:t>Use ML to classify next-year high-risk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EFCB6-D3E4-4787-87A6-4784DDCE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0" y="2857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766E"/>
                </a:solidFill>
              </a:defRPr>
            </a:pPr>
            <a:r>
              <a:rPr sz="405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CE4FE-2E33-4B7D-884E-86B76C36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0" y="354330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6A"/>
                </a:solidFill>
              </a:defRPr>
            </a:pPr>
            <a:r>
              <a:rPr sz="1575" b="0">
                <a:solidFill>
                  <a:srgbClr val="5E706A"/>
                </a:solidFill>
              </a:rPr>
              <a:t>selected regions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44203-C9B9-4DAD-ACF7-2C546EE1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0" y="44767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2413D"/>
                </a:solidFill>
              </a:defRPr>
            </a:pPr>
            <a:r>
              <a:rPr sz="4050" b="1">
                <a:solidFill>
                  <a:srgbClr val="C2413D"/>
                </a:solidFill>
              </a:rPr>
              <a:t>25y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72B25-D0A5-499E-975D-06A6CB79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0" y="51625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6A"/>
                </a:solidFill>
              </a:defRPr>
            </a:pPr>
            <a:r>
              <a:rPr sz="1575" b="0">
                <a:solidFill>
                  <a:srgbClr val="5E706A"/>
                </a:solidFill>
              </a:rPr>
              <a:t>district/state data span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B78AB-E5E3-48A1-9254-BD86DE5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0" y="6096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88734"/>
                </a:solidFill>
              </a:defRPr>
            </a:pPr>
            <a:r>
              <a:rPr sz="4050" b="1">
                <a:solidFill>
                  <a:srgbClr val="E88734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2901-614C-41D2-8192-C1F54F70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0" y="678180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6A"/>
                </a:solidFill>
              </a:defRPr>
            </a:pPr>
            <a:r>
              <a:rPr sz="1575" b="0">
                <a:solidFill>
                  <a:srgbClr val="5E706A"/>
                </a:solidFill>
              </a:rPr>
              <a:t>model families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41158-FB66-4036-AE34-16FD5931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C4FFF-3288-4CCF-9F87-ADC15749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2072147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2A7C8B-B0E8-4B05-B99E-A23E4270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Analysis pipeline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29369A-D4B7-4EA6-A7A3-19D2346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The project turns raw tables into mapped patterns, model outputs, and policy interpretation.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C909F-96D8-4BB8-A3ED-8A65A736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E2DEA-9397-460F-8E8B-5FC030B5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619500"/>
            <a:ext cx="2266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CFE54-350B-4CB4-86AE-A597C331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9818C-826E-45FC-8277-21B8FE50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8576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98080-6AAD-464E-A00B-BD3E80F5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8290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</a:defRPr>
            </a:pPr>
            <a:r>
              <a:rPr sz="1725" b="1">
                <a:solidFill>
                  <a:srgbClr val="10231F"/>
                </a:solidFill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B0F62-7DF6-44EA-8116-EC802208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4286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06A"/>
                </a:solidFill>
              </a:defRPr>
            </a:pPr>
            <a:r>
              <a:rPr sz="1200" b="0">
                <a:solidFill>
                  <a:srgbClr val="5E706A"/>
                </a:solidFill>
              </a:rPr>
              <a:t>PDF tables converted into CSV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DAEC7-E01D-4E7B-8C69-097C232E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419100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1610D-648C-4E02-8679-95E533FF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33775" y="40957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BCA8A-A544-412B-990E-58252FC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3619500"/>
            <a:ext cx="2266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5880B-C994-434C-86D7-59DAE36E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4"/>
          </a:solidFill>
          <a:ln xmlns:a="http://schemas.openxmlformats.org/drawingml/2006/main" w="0">
            <a:solidFill>
              <a:srgbClr val="E88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4AA58-E3EE-431A-8A0E-F38793B5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8576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34"/>
          </a:solidFill>
          <a:ln xmlns:a="http://schemas.openxmlformats.org/drawingml/2006/main" w="0">
            <a:solidFill>
              <a:srgbClr val="E8873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9B76A-041E-499A-8142-C604960D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38290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</a:defRPr>
            </a:pPr>
            <a:r>
              <a:rPr sz="1725" b="1">
                <a:solidFill>
                  <a:srgbClr val="10231F"/>
                </a:solidFill>
              </a:rPr>
              <a:t>Clean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3D2AB-CB38-4B50-A4CA-9F9857BE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975" y="4286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06A"/>
                </a:solidFill>
              </a:defRPr>
            </a:pPr>
            <a:r>
              <a:rPr sz="1200" b="0">
                <a:solidFill>
                  <a:srgbClr val="5E706A"/>
                </a:solidFill>
              </a:rPr>
              <a:t>State labels, numeric fields, rates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30FBD-E654-4687-99F3-831AFB20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19100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1BDA3-3CE1-47FB-B453-D7EB6196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57900" y="40957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25685-6B92-4D28-AB5F-66BB16A6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3619500"/>
            <a:ext cx="2266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6645E-41A5-44AE-B6D9-875F82C0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9A68"/>
          </a:solidFill>
          <a:ln xmlns:a="http://schemas.openxmlformats.org/drawingml/2006/main" w="0">
            <a:solidFill>
              <a:srgbClr val="4C9A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753C3-7B14-49ED-B46E-C3057D37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38576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A68"/>
          </a:solidFill>
          <a:ln xmlns:a="http://schemas.openxmlformats.org/drawingml/2006/main" w="0">
            <a:solidFill>
              <a:srgbClr val="4C9A6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CE2AD-D486-4E63-B21C-8D9241E2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8290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</a:defRPr>
            </a:pPr>
            <a:r>
              <a:rPr sz="1725" b="1">
                <a:solidFill>
                  <a:srgbClr val="10231F"/>
                </a:solidFill>
              </a:rPr>
              <a:t>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FFB491-4FCB-4C30-9A6E-B80EEDC8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286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06A"/>
                </a:solidFill>
              </a:defRPr>
            </a:pPr>
            <a:r>
              <a:rPr sz="1200" b="0">
                <a:solidFill>
                  <a:srgbClr val="5E706A"/>
                </a:solidFill>
              </a:rPr>
              <a:t>Choropleths and spatial heterogeneity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AE53C-F1F9-46B8-B20D-EFE968BF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419100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409824-09BF-4304-97EA-46448C69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82025" y="40957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90C8F-02C2-437E-876E-4C5CEA6E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3619500"/>
            <a:ext cx="2266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E7371-CC97-4696-BF36-C7B2C736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1075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C241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EF5E0-B637-4E5B-945F-2C5BDAE3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1075" y="38576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C241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9F386D-21A0-47DD-87BF-AF9447F7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38290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</a:defRPr>
            </a:pPr>
            <a:r>
              <a:rPr sz="1725" b="1">
                <a:solidFill>
                  <a:srgbClr val="10231F"/>
                </a:solidFill>
              </a:rPr>
              <a:t>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29E288-E222-41FA-A4A8-CDC3F2BF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4286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06A"/>
                </a:solidFill>
              </a:defRPr>
            </a:pPr>
            <a:r>
              <a:rPr sz="1200" b="0">
                <a:solidFill>
                  <a:srgbClr val="5E706A"/>
                </a:solidFill>
              </a:rPr>
              <a:t>SIR + ARIMA/SARIMA curves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678FFB-10F2-4845-978D-F25EB3D4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419100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448826-DE31-4DAD-849B-53E264C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06150" y="40957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6BE425-D9AC-4287-A289-55D9DA5D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3619500"/>
            <a:ext cx="2266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8B660A-C055-4B2C-9243-408B1F81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36DC0B-0794-42E8-B425-8B0656FD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38576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118E79-5036-4980-841E-83C36BD9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8600" y="38290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</a:defRPr>
            </a:pPr>
            <a:r>
              <a:rPr sz="1725" b="1">
                <a:solidFill>
                  <a:srgbClr val="10231F"/>
                </a:solidFill>
              </a:rPr>
              <a:t>Predict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CC58FE-BC8F-4267-B5BF-BBD396A8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2350" y="4286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06A"/>
                </a:solidFill>
              </a:defRPr>
            </a:pPr>
            <a:r>
              <a:rPr sz="1200" b="0">
                <a:solidFill>
                  <a:srgbClr val="5E706A"/>
                </a:solidFill>
              </a:rPr>
              <a:t>Random Forest high-risk classifier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FCE0EA-0078-44A6-8064-952D3635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419100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AABAB6-33AF-402F-9664-FACCEE35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630275" y="40957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4451B1-19E2-46F0-AC49-174E2A8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7875" y="3619500"/>
            <a:ext cx="2266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ECEB34-2582-4F24-827E-C85CFEFC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9325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2C139F-1E6C-43B8-8A5A-33E0AF8D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9325" y="38576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A14260-9613-4E9A-B1A6-34CDF5E1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2725" y="38290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</a:defRPr>
            </a:pPr>
            <a:r>
              <a:rPr sz="1725" b="1">
                <a:solidFill>
                  <a:srgbClr val="10231F"/>
                </a:solidFill>
              </a:rPr>
              <a:t>Policy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F17DBB-3A00-478D-A25B-E05300E5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6475" y="4286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06A"/>
                </a:solidFill>
              </a:defRPr>
            </a:pPr>
            <a:r>
              <a:rPr sz="1200" b="0">
                <a:solidFill>
                  <a:srgbClr val="5E706A"/>
                </a:solidFill>
              </a:rPr>
              <a:t>Peak timing, magnitude, duration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B0FFAE-7E2C-4344-BD49-F940BB73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6858000"/>
            <a:ext cx="1428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1F"/>
                </a:solidFill>
              </a:defRPr>
            </a:pPr>
            <a:r>
              <a:rPr sz="2325" b="1">
                <a:solidFill>
                  <a:srgbClr val="10231F"/>
                </a:solidFill>
              </a:rPr>
              <a:t>Key design rule: geospatial analysis comes before modelling, so model results are interpreted in spatial context.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5E5BB0-EFBD-4A99-A226-310398BD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5087E3-CEB3-40F4-85F4-F754E05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1460058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B3FBFA-8A82-4BA8-A2FA-4111AE3B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Dataset made analysis-ready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37123D4-A6A1-459A-8268-AD4A3D9C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The notebooks separate raw PDF extraction from modelling-ready CSVs.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EBBB4-AFA5-4333-B462-B39B191B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3319B-AF20-4522-9292-4AD24E07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8575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4E46"/>
                </a:solidFill>
              </a:defRPr>
            </a:pPr>
            <a:r>
              <a:rPr sz="2850" b="1">
                <a:solidFill>
                  <a:srgbClr val="104E46"/>
                </a:solidFill>
              </a:rPr>
              <a:t>Main data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D864D-DF53-4B61-A3B6-49D7CD9B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733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713C8-934A-4FE6-82F5-4AE52C6C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36195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31F"/>
                </a:solidFill>
              </a:defRPr>
            </a:pPr>
            <a:r>
              <a:rPr sz="1875" b="0">
                <a:solidFill>
                  <a:srgbClr val="10231F"/>
                </a:solidFill>
              </a:rPr>
              <a:t>District malaria cases and deaths: 2000-2024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A77B3-746E-435A-8D2B-0141B995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343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2915E-D274-448D-B6D5-0EC630FD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42291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31F"/>
                </a:solidFill>
              </a:defRPr>
            </a:pPr>
            <a:r>
              <a:rPr sz="1875" b="0">
                <a:solidFill>
                  <a:srgbClr val="10231F"/>
                </a:solidFill>
              </a:rPr>
              <a:t>State-year case rates per 100,000 people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48CAB-F8BE-4FA3-A31E-09376CAA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953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26C54-144A-47F5-A636-56EC51A0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48387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31F"/>
                </a:solidFill>
              </a:defRPr>
            </a:pPr>
            <a:r>
              <a:rPr sz="1875" b="0">
                <a:solidFill>
                  <a:srgbClr val="10231F"/>
                </a:solidFill>
              </a:rPr>
              <a:t>Recent epidemiological indicators: 2024-2025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DB16B-1302-4D57-9346-67B19B1F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5562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0756E-BEAA-4211-AF07-D1E8F086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54483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31F"/>
                </a:solidFill>
              </a:defRPr>
            </a:pPr>
            <a:r>
              <a:rPr sz="1875" b="0">
                <a:solidFill>
                  <a:srgbClr val="10231F"/>
                </a:solidFill>
              </a:rPr>
              <a:t>Lagged features for AI/ML risk prediction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334500" y="3000375"/>
          <a:ext xmlns:a="http://schemas.openxmlformats.org/drawingml/2006/main" cx="752475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62375"/>
                <a:gridCol w="3762375"/>
              </a:tblGrid>
              <a:tr h="704850">
                <a:tc>
                  <a:txBody>
                    <a:bodyPr/>
                    <a:lstStyle/>
                    <a:p>
                      <a:r>
                        <a:rPr/>
                        <a:t>Preparation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Output used later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/>
                        <a:t>Clean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Himachal/Haryana district issue handled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/>
                        <a:t>Aggregate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District rows to state-year totals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/>
                        <a:t>Normalize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Cases and deaths per 100,000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/>
                        <a:t>Engineer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Lag, rolling, and next-year ML features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9DC1B-5C69-4CF1-98DA-671A0C59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70008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2413D"/>
                </a:solidFill>
              </a:defRPr>
            </a:pPr>
            <a:r>
              <a:rPr sz="2400" b="1">
                <a:solidFill>
                  <a:srgbClr val="C2413D"/>
                </a:solidFill>
              </a:rPr>
              <a:t>Why it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58945-49B0-4203-8161-D6002EC6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7477125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31F"/>
                </a:solidFill>
              </a:defRPr>
            </a:pPr>
            <a:r>
              <a:rPr sz="2100" b="0">
                <a:solidFill>
                  <a:srgbClr val="10231F"/>
                </a:solidFill>
              </a:rPr>
              <a:t>Raw cases show operational burden; per-capita rates reveal intensity. Both are needed for fair regional comparison.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779B8-8659-406B-A86A-88B48036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1AEDA-77ED-472E-A443-4C6D736A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88026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CEA97E-95DF-4949-8C3A-9A1ED185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Three regions, contrasting risk profiles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3A8F08-4109-4DA5-8CC1-C02FF28C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Odisha dominates raw burden; Mizoram dominates intensity after population adjustment.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6FEA0-CC1A-4556-B989-8263BF7D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1095375" y="2952750"/>
          <a:ext xmlns:a="http://schemas.openxmlformats.org/drawingml/2006/main" cx="93345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2333625"/>
                <a:gridCol w="2333625"/>
                <a:gridCol w="2333625"/>
              </a:tblGrid>
              <a:tr h="809625">
                <a:tc>
                  <a:txBody>
                    <a:bodyPr/>
                    <a:lstStyle/>
                    <a:p>
                      <a:r>
                        <a:rPr/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Cumulative cases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Cases / 100k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Why included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/>
                        <a:t>Odisha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7.2M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17K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largest raw burden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/>
                        <a:t>Tripura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377K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10K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intermediate comparator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/>
                        <a:t>Mizoram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260K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24K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highest per-capita intensity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5" name="Chart"/>
          <p:cNvGraphicFramePr/>
          <p:nvPr/>
        </p:nvGraphicFramePr>
        <p:xfrm>
          <a:off xmlns:a="http://schemas.openxmlformats.org/drawingml/2006/main" x="11049000" y="2762250"/>
          <a:ext xmlns:a="http://schemas.openxmlformats.org/drawingml/2006/main" cx="5905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62ddfbb8c945b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5636D-FAD5-431B-96B7-7AB95D55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9532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4E46"/>
                </a:solidFill>
              </a:defRPr>
            </a:pPr>
            <a:r>
              <a:rPr sz="2400" b="1">
                <a:solidFill>
                  <a:srgbClr val="104E46"/>
                </a:solidFill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9397D-E430-4904-9C25-F243BEB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7429500"/>
            <a:ext cx="1428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31F"/>
                </a:solidFill>
              </a:defRPr>
            </a:pPr>
            <a:r>
              <a:rPr sz="2175" b="0">
                <a:solidFill>
                  <a:srgbClr val="10231F"/>
                </a:solidFill>
              </a:rPr>
              <a:t>The selected states are comparable as malaria-relevant regions, but contrasting in population size, intensity, and resurgence behaviour.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C0B98-5AE3-46B3-92CC-C9D9D64D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48E62-E057-49D4-983B-A24D97EC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471777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1D2C21-F8E5-4329-A55C-DE71D6A3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Geospatial analysis changed the story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755E74-61A9-4A87-ABF3-C40C29AB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Raw counts and per-capita rates point to different kinds of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2B31E-33BB-4158-BFB8-8F60D42F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A20C4-8730-4C00-BF2C-BA7C206E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857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4E46"/>
                </a:solidFill>
              </a:defRPr>
            </a:pPr>
            <a:r>
              <a:rPr sz="3150" b="1">
                <a:solidFill>
                  <a:srgbClr val="104E46"/>
                </a:solidFill>
              </a:rPr>
              <a:t>Raw burden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B9EBA-CE3E-4054-9611-7379A831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52425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31F"/>
                </a:solidFill>
              </a:defRPr>
            </a:pPr>
            <a:r>
              <a:rPr sz="2250" b="0">
                <a:solidFill>
                  <a:srgbClr val="10231F"/>
                </a:solidFill>
              </a:rPr>
              <a:t>Odisha stands out because of very high cumulative cases and a large population 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11187-BC42-4C26-86C0-405455F6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6197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2413D"/>
                </a:solidFill>
              </a:defRPr>
            </a:pPr>
            <a:r>
              <a:rPr sz="3150" b="1">
                <a:solidFill>
                  <a:srgbClr val="C2413D"/>
                </a:solidFill>
              </a:rPr>
              <a:t>Per-capita intensity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1ED02-B455-4A7F-96B4-F69DF39D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6286500"/>
            <a:ext cx="571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31F"/>
                </a:solidFill>
              </a:defRPr>
            </a:pPr>
            <a:r>
              <a:rPr sz="2250" b="0">
                <a:solidFill>
                  <a:srgbClr val="10231F"/>
                </a:solidFill>
              </a:rPr>
              <a:t>Mizoram becomes most intense when cases are adjusted for population.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30787-36EA-4FAE-A0E2-AAF08C0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667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3EF"/>
          </a:solidFill>
          <a:ln xmlns:a="http://schemas.openxmlformats.org/drawingml/2006/main" w="0">
            <a:solidFill>
              <a:srgbClr val="E5F3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C78B9-B817-4B6A-ABDD-E7E0BE10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10668000" y="3476625"/>
            <a:ext cx="1428750" cy="1809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9AD57-034E-4B39-A947-C3203BC6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12239625" y="4095750"/>
            <a:ext cx="857250" cy="1047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C24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DCDFF-50C6-466F-96A7-2C3F6DE7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13049250" y="5048250"/>
            <a:ext cx="666750" cy="857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8734"/>
          </a:solidFill>
          <a:ln xmlns:a="http://schemas.openxmlformats.org/drawingml/2006/main" w="0">
            <a:solidFill>
              <a:srgbClr val="E88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23E75-174E-46D9-884F-1381ED72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8001000"/>
            <a:ext cx="590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231F"/>
                </a:solidFill>
              </a:defRPr>
            </a:pPr>
            <a:r>
              <a:rPr sz="3150" b="1">
                <a:solidFill>
                  <a:srgbClr val="10231F"/>
                </a:solidFill>
              </a:rPr>
              <a:t>Spatial heterogeneity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0EEB7-AE04-4812-9C25-4457CAD4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85725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Different regions need different intervention thresholds.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A52C9-49A5-4179-8A5B-B8A4D98B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198CD-E67D-4C96-9A5F-C88FCAC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819513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6AA92F-9244-47A7-AD19-D693666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Recent burden fell, but remains concentrated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69088D-CA66-4022-8C6B-0FEFA857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The 2024-2025 epidemiological file adds latest context, not long-term training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C06AA-F55C-4F82-9FED-48C74B53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00125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5991976e044837"/>
          </a:graphicData>
        </a:graphic>
      </p:graphicFrame>
      <p:graphicFrame>
        <p:nvGraphicFramePr>
          <p:cNvPr id="5" name=""/>
          <p:cNvGraphicFramePr/>
          <p:nvPr/>
        </p:nvGraphicFramePr>
        <p:xfrm>
          <a:off xmlns:a="http://schemas.openxmlformats.org/drawingml/2006/main" x="11620500" y="3333750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  <a:gridCol w="1333500"/>
              </a:tblGrid>
              <a:tr h="619125">
                <a:tc>
                  <a:txBody>
                    <a:bodyPr/>
                    <a:lstStyle/>
                    <a:p>
                      <a:r>
                        <a:rPr/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Change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/>
                        <a:t>Odisha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69K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62K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-7K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/>
                        <a:t>Mizoram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17K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9K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-8K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/>
                        <a:t>Tripura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10K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6K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-4K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BFF7A-29DE-4484-8BE1-EEFC874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0" y="628650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31F"/>
                </a:solidFill>
              </a:defRPr>
            </a:pPr>
            <a:r>
              <a:rPr sz="2100" b="0">
                <a:solidFill>
                  <a:srgbClr val="10231F"/>
                </a:solidFill>
              </a:rPr>
              <a:t>All three selected regions decreased from 2024 to 2025, but Odisha remains the largest selected-region case load.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7ECBA-1CF5-416F-8A05-38005848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E451A-4217-4A0A-B95D-7957A3A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1984248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45E1C9-5AB3-4172-AEC2-65AC3346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Mechanistic model: transmission persists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3DACD9-8D74-40A3-959E-80286CD3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SIR converts case curves into transmission parameters and an R0 proxy.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20B39-E33C-4FC9-A2D5-50EDD50A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1190625" y="2857500"/>
          <a:ext xmlns:a="http://schemas.openxmlformats.org/drawingml/2006/main" cx="78105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7d48e8cd8f4e4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5A38F-A391-453E-989B-7A66718F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6953250"/>
            <a:ext cx="781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C24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0C14D-E48A-4FB0-9C9D-BD90F226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304800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2413D"/>
                </a:solidFill>
              </a:defRPr>
            </a:pPr>
            <a:r>
              <a:rPr sz="3600" b="1">
                <a:solidFill>
                  <a:srgbClr val="C2413D"/>
                </a:solidFill>
              </a:rPr>
              <a:t>R0 &gt; 1 for all selected regions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8E64B-B3D0-4B69-B793-825BF88E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4210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6E933-9FD1-430E-9F86-D1040ADF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0957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31F"/>
                </a:solidFill>
              </a:defRPr>
            </a:pPr>
            <a:r>
              <a:rPr sz="2025" b="0">
                <a:solidFill>
                  <a:srgbClr val="10231F"/>
                </a:solidFill>
              </a:rPr>
              <a:t>Mizoram has the highest transmission potential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220D2-9944-452C-8481-9975334A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4819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DE214-F5A4-4367-AF4D-41AC9A8B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053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31F"/>
                </a:solidFill>
              </a:defRPr>
            </a:pPr>
            <a:r>
              <a:rPr sz="2025" b="0">
                <a:solidFill>
                  <a:srgbClr val="10231F"/>
                </a:solidFill>
              </a:rPr>
              <a:t>Odisha's decline is strong, but not automatically biological elimination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0B073-1D1D-41C3-AC28-976765CC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5429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7E81E-4C3F-4B0C-A161-80346E08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3149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31F"/>
                </a:solidFill>
              </a:defRPr>
            </a:pPr>
            <a:r>
              <a:rPr sz="2025" b="0">
                <a:solidFill>
                  <a:srgbClr val="10231F"/>
                </a:solidFill>
              </a:rPr>
              <a:t>Tripura shows lower R0, yet still above the endemic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4749F-E08A-46E3-AEF4-58F8BB6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7B03D-3138-4B29-8573-93DB8598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419781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5D7FF6-C7DE-4D6C-A501-CFB55C0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Statistical forecasts can be optimistic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AA09BC-5166-468D-BEDD-5BE09564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The northeast resurgence is where trend-based models need mechanistic caution.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7431D-DFB0-407E-B3DE-923D160A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952500" y="2857500"/>
          <a:ext xmlns:a="http://schemas.openxmlformats.org/drawingml/2006/main" cx="93345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43e2b1887d4754"/>
          </a:graphicData>
        </a:graphic>
      </p:graphicFrame>
      <p:graphicFrame>
        <p:nvGraphicFramePr>
          <p:cNvPr id="5" name=""/>
          <p:cNvGraphicFramePr/>
          <p:nvPr/>
        </p:nvGraphicFramePr>
        <p:xfrm>
          <a:off xmlns:a="http://schemas.openxmlformats.org/drawingml/2006/main" x="11144250" y="3143250"/>
          <a:ext xmlns:a="http://schemas.openxmlformats.org/drawingml/2006/main" cx="571500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428750"/>
                <a:gridCol w="1428750"/>
                <a:gridCol w="1428750"/>
              </a:tblGrid>
              <a:tr h="666750">
                <a:tc>
                  <a:txBody>
                    <a:bodyPr/>
                    <a:lstStyle/>
                    <a:p>
                      <a:r>
                        <a:rPr/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ARIMA MAE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SARIMA MAE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Best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/>
                        <a:t>Odisha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16K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157K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ARIMA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/>
                        <a:t>Mizoram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4K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9K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ARIMA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/>
                        <a:t>Tripura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7K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8K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ARIMA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E118D-A3B9-4010-86C1-6A85BFF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62865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4E46"/>
                </a:solidFill>
              </a:defRPr>
            </a:pPr>
            <a:r>
              <a:rPr sz="2700" b="1">
                <a:solidFill>
                  <a:srgbClr val="104E46"/>
                </a:solidFill>
              </a:rPr>
              <a:t>Policy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1A212-3614-4F44-864F-E3D88355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6810375"/>
            <a:ext cx="542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31F"/>
                </a:solidFill>
              </a:defRPr>
            </a:pPr>
            <a:r>
              <a:rPr sz="2025" b="0">
                <a:solidFill>
                  <a:srgbClr val="10231F"/>
                </a:solidFill>
              </a:rPr>
              <a:t>Use ARIMA/SARIMA for short-term operational planning, but use SIR R0 when deciding whether it is safe to reduce interventions.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D8353-1F43-4306-B5A5-37CAF022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AC05D-03DD-4E79-9AFA-E6242D08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6476256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346F9F-D3EE-47CE-9689-08A72887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AI/ML model: next-year risk screening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31ACE8-D02F-40F6-98D5-7503A6A4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Random Forest predicted whether a state becomes high malaria risk next year.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63A91-C414-4B8F-8836-48273B1B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4EBDF-CA75-48BB-9812-2321F8CC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3000375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766E"/>
                </a:solidFill>
              </a:defRPr>
            </a:pPr>
            <a:r>
              <a:rPr sz="4050" b="1">
                <a:solidFill>
                  <a:srgbClr val="0F766E"/>
                </a:solidFill>
              </a:rPr>
              <a:t>RF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DE838-E937-4BA2-A6AD-1534EE02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3686175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6A"/>
                </a:solidFill>
              </a:defRPr>
            </a:pPr>
            <a:r>
              <a:rPr sz="1575" b="0">
                <a:solidFill>
                  <a:srgbClr val="5E706A"/>
                </a:solidFill>
              </a:rPr>
              <a:t>selected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1D35C-9B3B-44DB-B811-0F4599A4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4762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2413D"/>
                </a:solidFill>
              </a:defRPr>
            </a:pPr>
            <a:r>
              <a:rPr sz="4050" b="1">
                <a:solidFill>
                  <a:srgbClr val="C2413D"/>
                </a:solidFill>
              </a:rPr>
              <a:t>0.92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40DE1-CB17-447F-967A-60E3A7B6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544830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6A"/>
                </a:solidFill>
              </a:defRPr>
            </a:pPr>
            <a:r>
              <a:rPr sz="1575" b="0">
                <a:solidFill>
                  <a:srgbClr val="5E706A"/>
                </a:solidFill>
              </a:rPr>
              <a:t>test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F0A95-5DFC-4AAE-80A4-225FF85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6524625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88734"/>
                </a:solidFill>
              </a:defRPr>
            </a:pPr>
            <a:r>
              <a:rPr sz="4050" b="1">
                <a:solidFill>
                  <a:srgbClr val="E88734"/>
                </a:solidFill>
              </a:rPr>
              <a:t>1.00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ADC8A-E0F0-4124-96B7-CA746BAB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7210425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6A"/>
                </a:solidFill>
              </a:defRPr>
            </a:pPr>
            <a:r>
              <a:rPr sz="1575" b="0">
                <a:solidFill>
                  <a:srgbClr val="5E706A"/>
                </a:solidFill>
              </a:rPr>
              <a:t>ROC-AUC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334000" y="2857500"/>
          <a:ext xmlns:a="http://schemas.openxmlformats.org/drawingml/2006/main" cx="11239500" cy="533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a7d77c4e614331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D6733-40D4-4AD3-9765-6846C0E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838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High risk threshold: 356.8 cases per 100,000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E1281-4886-4464-8A7E-4AA19F98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4F4D4-ABB3-417D-B42D-A59C9831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1161012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59A9A5-4724-438A-BA6D-36C71A3B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66750"/>
            <a:ext cx="1295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Policy outputs extracted from each model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4E6211-B609-4222-8E74-74D8201A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1238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A"/>
                </a:solidFill>
              </a:defRPr>
            </a:pPr>
            <a:r>
              <a:rPr sz="1800" b="0">
                <a:solidFill>
                  <a:srgbClr val="5E706A"/>
                </a:solidFill>
              </a:rPr>
              <a:t>Peak timing, peak magnitude, and duration translate model curves into planning signals.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D3E90-8D7D-4D8D-8A5C-E24FB8D6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904875" y="2762250"/>
          <a:ext xmlns:a="http://schemas.openxmlformats.org/drawingml/2006/main" cx="11811000" cy="561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62200"/>
                <a:gridCol w="2362200"/>
                <a:gridCol w="2362200"/>
                <a:gridCol w="2362200"/>
                <a:gridCol w="2362200"/>
              </a:tblGrid>
              <a:tr h="561975">
                <a:tc>
                  <a:txBody>
                    <a:bodyPr/>
                    <a:lstStyle/>
                    <a:p>
                      <a:r>
                        <a:rPr/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Peak timing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Peak magnitude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Duration</a:t>
                      </a:r>
                    </a:p>
                  </a:txBody>
                  <a:tcPr marL="91440" marR="91440" marT="45720" marB="45720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/>
                        <a:t>Odisha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SIR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658K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20y</a:t>
                      </a:r>
                    </a:p>
                  </a:txBody>
                  <a:tcPr marL="91440" marR="91440" marT="45720" marB="45720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/>
                        <a:t>Odisha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ARIMA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40K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4y</a:t>
                      </a:r>
                    </a:p>
                  </a:txBody>
                  <a:tcPr marL="91440" marR="91440" marT="45720" marB="45720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/>
                        <a:t>Odisha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ML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36%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0y</a:t>
                      </a:r>
                    </a:p>
                  </a:txBody>
                  <a:tcPr marL="91440" marR="91440" marT="45720" marB="45720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/>
                        <a:t>Mizoram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SIR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11K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25y</a:t>
                      </a:r>
                    </a:p>
                  </a:txBody>
                  <a:tcPr marL="91440" marR="91440" marT="45720" marB="45720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/>
                        <a:t>Mizoram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ARIMA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9K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4y</a:t>
                      </a:r>
                    </a:p>
                  </a:txBody>
                  <a:tcPr marL="91440" marR="91440" marT="45720" marB="45720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/>
                        <a:t>Mizoram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ML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84%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4y</a:t>
                      </a:r>
                    </a:p>
                  </a:txBody>
                  <a:tcPr marL="91440" marR="91440" marT="45720" marB="45720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/>
                        <a:t>Tripura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SIR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25y</a:t>
                      </a:r>
                    </a:p>
                  </a:txBody>
                  <a:tcPr marL="91440" marR="91440" marT="45720" marB="45720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/>
                        <a:t>Tripura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ARIMA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9K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4y</a:t>
                      </a:r>
                    </a:p>
                  </a:txBody>
                  <a:tcPr marL="91440" marR="91440" marT="45720" marB="45720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/>
                        <a:t>Tripura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ML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2024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32%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0y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5A6FC-CADB-4F95-9ED5-3BAD0A89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314325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2413D"/>
                </a:solidFill>
              </a:defRPr>
            </a:pPr>
            <a:r>
              <a:rPr sz="2700" b="1">
                <a:solidFill>
                  <a:srgbClr val="C2413D"/>
                </a:solidFill>
              </a:rPr>
              <a:t>Why peak timing?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FF31B-8492-4768-BD3E-14D74F83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371475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31F"/>
                </a:solidFill>
              </a:defRPr>
            </a:pPr>
            <a:r>
              <a:rPr sz="2025" b="0">
                <a:solidFill>
                  <a:srgbClr val="10231F"/>
                </a:solidFill>
              </a:rPr>
              <a:t>It is the year where that model reaches its maximum burden or highest high-risk probability.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27BC3-69C6-41EC-A60C-A32FB04B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533400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31F"/>
                </a:solidFill>
              </a:defRPr>
            </a:pPr>
            <a:r>
              <a:rPr sz="2025" b="0">
                <a:solidFill>
                  <a:srgbClr val="10231F"/>
                </a:solidFill>
              </a:rPr>
              <a:t>That tells health teams when surveillance, testing, treatment, and vector-control pressure is expected to be highest.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B45D5-2542-4A1F-9E41-1D8F0138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696450"/>
            <a:ext cx="1619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4"/>
          </a:solidFill>
          <a:ln xmlns:a="http://schemas.openxmlformats.org/drawingml/2006/main" w="0">
            <a:solidFill>
              <a:srgbClr val="CAD8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7374F-8EB9-4784-9D06-04222C77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763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F7FAF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6A"/>
                </a:solidFill>
              </a:defRPr>
            </a:pPr>
            <a:r>
              <a:rPr sz="1050" b="0">
                <a:solidFill>
                  <a:srgbClr val="5E706A"/>
                </a:solidFill>
              </a:rPr>
              <a:t>Malaria risk modelling project</a:t>
            </a:r>
          </a:p>
        </p:txBody>
      </p:sp>
    </p:spTree>
    <p:extLst>
      <p:ext uri="{BB962C8B-B14F-4D97-AF65-F5344CB8AC3E}">
        <p14:creationId xmlns:p14="http://schemas.microsoft.com/office/powerpoint/2010/main" val="6007019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4E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F581E-11BF-45F2-8DB0-B01AA19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11430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Main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71283-F08D-4ACE-8EB6-8B645E75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2381250"/>
            <a:ext cx="1238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DF4ED"/>
                </a:solidFill>
              </a:defRPr>
            </a:pPr>
            <a:r>
              <a:rPr sz="4350" b="1">
                <a:solidFill>
                  <a:srgbClr val="DDF4ED"/>
                </a:solidFill>
              </a:rPr>
              <a:t>Malaria risk is spatially uneven, trend-dependent, and still intervention-sensitive.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4939E-BD26-4AA8-99FD-120C924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924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30CC2-DC45-4048-8D52-43A371C6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48101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Maps show raw burden and per-capita intensity tell different stories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5D3DA-B1AA-42AD-9E29-F48D52FA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5534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CF074-5365-4EE3-9A66-4F750A0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54197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SIR R0 warns that transmission potential persists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A2AD5-B822-4334-802D-82801ABD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6143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4DD33-08EA-4B80-AF21-59C2B65D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60293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Time-series models help forecast case load but can miss resurgence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566FA-EB81-40C7-8A86-68864CE1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6753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C410C-E958-4E38-BB6D-FE00E835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66389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ML adds scalable high-risk screening across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89C2E-4AAB-495E-90B8-7EA0B9D9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0" y="4333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C241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54F8E-0612-49A0-B5D4-E42837E3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0" y="53340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C241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Do not use one model alone.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AACBA-2217-44FE-8C93-CF466124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88582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46"/>
          </a:solidFill>
          <a:ln xmlns:a="http://schemas.openxmlformats.org/drawingml/2006/main" w="0">
            <a:solidFill>
              <a:srgbClr val="104E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E7DE"/>
                </a:solidFill>
              </a:defRPr>
            </a:pPr>
            <a:r>
              <a:rPr sz="2250" b="1">
                <a:solidFill>
                  <a:srgbClr val="BFE7DE"/>
                </a:solidFill>
              </a:rPr>
              <a:t>Use mapping + SIR + forecasting + ML together.</a:t>
            </a:r>
          </a:p>
        </p:txBody>
      </p:sp>
    </p:spTree>
    <p:extLst>
      <p:ext uri="{BB962C8B-B14F-4D97-AF65-F5344CB8AC3E}">
        <p14:creationId xmlns:p14="http://schemas.microsoft.com/office/powerpoint/2010/main" val="2051829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2026-04-28T07:01:28.6340000Z</dcterms:created>
  <dcterms:modified xsi:type="dcterms:W3CDTF">2026-04-28T07:01:28.6340000Z</dcterms:modified>
</coreProperties>
</file>